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13" autoAdjust="0"/>
    <p:restoredTop sz="94660"/>
  </p:normalViewPr>
  <p:slideViewPr>
    <p:cSldViewPr snapToGrid="0">
      <p:cViewPr varScale="1">
        <p:scale>
          <a:sx n="81" d="100"/>
          <a:sy n="81" d="100"/>
        </p:scale>
        <p:origin x="114" y="163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8D3F2A7-78DB-4FBD-BC8A-8CECE580E40D}"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E9B849-5C6D-4801-9861-47EE00589DAE}"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40570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D3F2A7-78DB-4FBD-BC8A-8CECE580E40D}"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1857192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8D3F2A7-78DB-4FBD-BC8A-8CECE580E40D}"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E9B849-5C6D-4801-9861-47EE00589DAE}"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888945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8D3F2A7-78DB-4FBD-BC8A-8CECE580E40D}" type="datetimeFigureOut">
              <a:rPr lang="en-US" smtClean="0"/>
              <a:t>4/11/2026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133044040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8D3F2A7-78DB-4FBD-BC8A-8CECE580E40D}" type="datetimeFigureOut">
              <a:rPr lang="en-US" smtClean="0"/>
              <a:t>4/11/2026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395696137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8D3F2A7-78DB-4FBD-BC8A-8CECE580E40D}" type="datetimeFigureOut">
              <a:rPr lang="en-US" smtClean="0"/>
              <a:t>4/11/2026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29201763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68D3F2A7-78DB-4FBD-BC8A-8CECE580E40D}" type="datetimeFigureOut">
              <a:rPr lang="en-US" smtClean="0"/>
              <a:t>4/11/2026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35415343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68D3F2A7-78DB-4FBD-BC8A-8CECE580E40D}" type="datetimeFigureOut">
              <a:rPr lang="en-US" smtClean="0"/>
              <a:t>4/11/2026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CBE9B849-5C6D-4801-9861-47EE00589DAE}" type="slidenum">
              <a:rPr lang="en-US" smtClean="0"/>
              <a:t>‹#›</a:t>
            </a:fld>
            <a:endParaRPr lang="en-US"/>
          </a:p>
        </p:txBody>
      </p:sp>
    </p:spTree>
    <p:extLst>
      <p:ext uri="{BB962C8B-B14F-4D97-AF65-F5344CB8AC3E}">
        <p14:creationId xmlns:p14="http://schemas.microsoft.com/office/powerpoint/2010/main" val="12280021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8D3F2A7-78DB-4FBD-BC8A-8CECE580E40D}" type="datetimeFigureOut">
              <a:rPr lang="en-US" smtClean="0"/>
              <a:t>4/11/2026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24410950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D3F2A7-78DB-4FBD-BC8A-8CECE580E40D}"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358613985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8D3F2A7-78DB-4FBD-BC8A-8CECE580E40D}" type="datetimeFigureOut">
              <a:rPr lang="en-US" smtClean="0"/>
              <a:t>4/11/2026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BE9B849-5C6D-4801-9861-47EE00589DAE}" type="slidenum">
              <a:rPr lang="en-US" smtClean="0"/>
              <a:t>‹#›</a:t>
            </a:fld>
            <a:endParaRPr lang="en-US"/>
          </a:p>
        </p:txBody>
      </p:sp>
    </p:spTree>
    <p:extLst>
      <p:ext uri="{BB962C8B-B14F-4D97-AF65-F5344CB8AC3E}">
        <p14:creationId xmlns:p14="http://schemas.microsoft.com/office/powerpoint/2010/main" val="310465866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68D3F2A7-78DB-4FBD-BC8A-8CECE580E40D}" type="datetimeFigureOut">
              <a:rPr lang="en-US" smtClean="0"/>
              <a:t>4/11/2026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CBE9B849-5C6D-4801-9861-47EE00589DAE}"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41259502"/>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658EC9-1E4B-617E-DE03-86F4FA983116}"/>
              </a:ext>
            </a:extLst>
          </p:cNvPr>
          <p:cNvSpPr>
            <a:spLocks noGrp="1"/>
          </p:cNvSpPr>
          <p:nvPr>
            <p:ph type="ctrTitle"/>
          </p:nvPr>
        </p:nvSpPr>
        <p:spPr/>
        <p:txBody>
          <a:bodyPr/>
          <a:lstStyle/>
          <a:p>
            <a:r>
              <a:rPr lang="en-US" dirty="0"/>
              <a:t>Cardiovascular Disease (CVD) Risk and Recommender</a:t>
            </a:r>
          </a:p>
        </p:txBody>
      </p:sp>
      <p:sp>
        <p:nvSpPr>
          <p:cNvPr id="3" name="Subtitle 2">
            <a:extLst>
              <a:ext uri="{FF2B5EF4-FFF2-40B4-BE49-F238E27FC236}">
                <a16:creationId xmlns:a16="http://schemas.microsoft.com/office/drawing/2014/main" id="{DA51D54C-5FDC-B1AA-2045-A3C317844AD5}"/>
              </a:ext>
            </a:extLst>
          </p:cNvPr>
          <p:cNvSpPr>
            <a:spLocks noGrp="1"/>
          </p:cNvSpPr>
          <p:nvPr>
            <p:ph type="subTitle" idx="1"/>
          </p:nvPr>
        </p:nvSpPr>
        <p:spPr/>
        <p:txBody>
          <a:bodyPr>
            <a:normAutofit fontScale="92500"/>
          </a:bodyPr>
          <a:lstStyle/>
          <a:p>
            <a:r>
              <a:rPr lang="en-US" dirty="0"/>
              <a:t>Data 622 Project </a:t>
            </a:r>
            <a:r>
              <a:rPr lang="en-US" dirty="0" err="1"/>
              <a:t>mvp</a:t>
            </a:r>
            <a:r>
              <a:rPr lang="en-US" dirty="0"/>
              <a:t> presentation</a:t>
            </a:r>
          </a:p>
          <a:p>
            <a:r>
              <a:rPr lang="en-US" dirty="0"/>
              <a:t>Lawrence </a:t>
            </a:r>
            <a:r>
              <a:rPr lang="en-US" dirty="0" err="1"/>
              <a:t>yu</a:t>
            </a:r>
            <a:r>
              <a:rPr lang="en-US" dirty="0"/>
              <a:t>, Brandon Chung, Leslie Tavarez, Alina </a:t>
            </a:r>
            <a:r>
              <a:rPr lang="en-US" dirty="0" err="1"/>
              <a:t>Vikhnevich</a:t>
            </a:r>
            <a:endParaRPr lang="en-US" dirty="0"/>
          </a:p>
        </p:txBody>
      </p:sp>
    </p:spTree>
    <p:extLst>
      <p:ext uri="{BB962C8B-B14F-4D97-AF65-F5344CB8AC3E}">
        <p14:creationId xmlns:p14="http://schemas.microsoft.com/office/powerpoint/2010/main" val="25419842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7B14C0-4867-5463-23F1-EFE6EF55D709}"/>
              </a:ext>
            </a:extLst>
          </p:cNvPr>
          <p:cNvSpPr>
            <a:spLocks noGrp="1"/>
          </p:cNvSpPr>
          <p:nvPr>
            <p:ph type="title"/>
          </p:nvPr>
        </p:nvSpPr>
        <p:spPr/>
        <p:txBody>
          <a:bodyPr/>
          <a:lstStyle/>
          <a:p>
            <a:r>
              <a:rPr lang="en-US" dirty="0"/>
              <a:t>The Problem</a:t>
            </a:r>
          </a:p>
        </p:txBody>
      </p:sp>
      <p:sp>
        <p:nvSpPr>
          <p:cNvPr id="3" name="Content Placeholder 2">
            <a:extLst>
              <a:ext uri="{FF2B5EF4-FFF2-40B4-BE49-F238E27FC236}">
                <a16:creationId xmlns:a16="http://schemas.microsoft.com/office/drawing/2014/main" id="{58BB0C05-417E-574D-9190-695E66050D00}"/>
              </a:ext>
            </a:extLst>
          </p:cNvPr>
          <p:cNvSpPr>
            <a:spLocks noGrp="1"/>
          </p:cNvSpPr>
          <p:nvPr>
            <p:ph idx="1"/>
          </p:nvPr>
        </p:nvSpPr>
        <p:spPr/>
        <p:txBody>
          <a:bodyPr/>
          <a:lstStyle/>
          <a:p>
            <a:r>
              <a:rPr lang="en-US" dirty="0"/>
              <a:t>- Cardiovascular Disease (MI, Stroke, Heart failure / disease) is insidious, generally developing without obvious symptoms and can lead to life altering or life threatening outcomes.</a:t>
            </a:r>
          </a:p>
          <a:p>
            <a:endParaRPr lang="en-US" dirty="0"/>
          </a:p>
          <a:p>
            <a:r>
              <a:rPr lang="en-US" dirty="0"/>
              <a:t>- CVDs are the leading cause of death globally, 19.8 million people died from CVDs in 2022, about 32% of all global deaths. Of the nearly 20 million, 85% were due to heart attack or stroke.</a:t>
            </a:r>
          </a:p>
          <a:p>
            <a:endParaRPr lang="en-US" dirty="0"/>
          </a:p>
          <a:p>
            <a:r>
              <a:rPr lang="en-US" dirty="0"/>
              <a:t>- Prevention and proactive measures to control certain lifestyle factors is the greatest treatment for CVDs, but are often overlooked due to the lack of education or impactful negative symptoms during development. </a:t>
            </a:r>
          </a:p>
        </p:txBody>
      </p:sp>
    </p:spTree>
    <p:extLst>
      <p:ext uri="{BB962C8B-B14F-4D97-AF65-F5344CB8AC3E}">
        <p14:creationId xmlns:p14="http://schemas.microsoft.com/office/powerpoint/2010/main" val="93144235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2A25BA-5F5E-D1F2-CEDD-A21CFEF9B8F4}"/>
              </a:ext>
            </a:extLst>
          </p:cNvPr>
          <p:cNvSpPr>
            <a:spLocks noGrp="1"/>
          </p:cNvSpPr>
          <p:nvPr>
            <p:ph type="title"/>
          </p:nvPr>
        </p:nvSpPr>
        <p:spPr/>
        <p:txBody>
          <a:bodyPr/>
          <a:lstStyle/>
          <a:p>
            <a:r>
              <a:rPr lang="en-US" dirty="0"/>
              <a:t>Proposed Solution</a:t>
            </a:r>
          </a:p>
        </p:txBody>
      </p:sp>
      <p:sp>
        <p:nvSpPr>
          <p:cNvPr id="3" name="Content Placeholder 2">
            <a:extLst>
              <a:ext uri="{FF2B5EF4-FFF2-40B4-BE49-F238E27FC236}">
                <a16:creationId xmlns:a16="http://schemas.microsoft.com/office/drawing/2014/main" id="{DBA982EF-8554-49C1-E227-952E00753654}"/>
              </a:ext>
            </a:extLst>
          </p:cNvPr>
          <p:cNvSpPr>
            <a:spLocks noGrp="1"/>
          </p:cNvSpPr>
          <p:nvPr>
            <p:ph idx="1"/>
          </p:nvPr>
        </p:nvSpPr>
        <p:spPr/>
        <p:txBody>
          <a:bodyPr/>
          <a:lstStyle/>
          <a:p>
            <a:pPr marL="0" indent="0">
              <a:buNone/>
            </a:pPr>
            <a:r>
              <a:rPr lang="en-US" dirty="0"/>
              <a:t>- Education of the population on risk of adverse event and recommended steps to help mitigate CVD development via an online application that models risk and provides a metric recommender for patient focus.</a:t>
            </a:r>
          </a:p>
          <a:p>
            <a:pPr marL="0" indent="0">
              <a:buNone/>
            </a:pPr>
            <a:endParaRPr lang="en-US" dirty="0"/>
          </a:p>
        </p:txBody>
      </p:sp>
      <p:sp>
        <p:nvSpPr>
          <p:cNvPr id="4" name="Oval 3">
            <a:extLst>
              <a:ext uri="{FF2B5EF4-FFF2-40B4-BE49-F238E27FC236}">
                <a16:creationId xmlns:a16="http://schemas.microsoft.com/office/drawing/2014/main" id="{728EC22C-A66B-BCD6-CDFC-7303AFFCE408}"/>
              </a:ext>
            </a:extLst>
          </p:cNvPr>
          <p:cNvSpPr/>
          <p:nvPr/>
        </p:nvSpPr>
        <p:spPr>
          <a:xfrm>
            <a:off x="641267" y="2933206"/>
            <a:ext cx="2422567" cy="1870364"/>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Patient Input: Vitals and Health Information</a:t>
            </a:r>
          </a:p>
        </p:txBody>
      </p:sp>
      <p:sp>
        <p:nvSpPr>
          <p:cNvPr id="6" name="Oval 5">
            <a:extLst>
              <a:ext uri="{FF2B5EF4-FFF2-40B4-BE49-F238E27FC236}">
                <a16:creationId xmlns:a16="http://schemas.microsoft.com/office/drawing/2014/main" id="{C8CBAF82-EC73-AA69-8C28-462885D466CE}"/>
              </a:ext>
            </a:extLst>
          </p:cNvPr>
          <p:cNvSpPr/>
          <p:nvPr/>
        </p:nvSpPr>
        <p:spPr>
          <a:xfrm>
            <a:off x="3966357" y="2933206"/>
            <a:ext cx="2826329" cy="1870363"/>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Heart Disease Risks and Recommendations Application</a:t>
            </a:r>
          </a:p>
        </p:txBody>
      </p:sp>
      <p:cxnSp>
        <p:nvCxnSpPr>
          <p:cNvPr id="8" name="Straight Arrow Connector 7">
            <a:extLst>
              <a:ext uri="{FF2B5EF4-FFF2-40B4-BE49-F238E27FC236}">
                <a16:creationId xmlns:a16="http://schemas.microsoft.com/office/drawing/2014/main" id="{8EA8ED27-00E9-4A0F-B70B-56D1E0E9A301}"/>
              </a:ext>
            </a:extLst>
          </p:cNvPr>
          <p:cNvCxnSpPr>
            <a:cxnSpLocks/>
          </p:cNvCxnSpPr>
          <p:nvPr/>
        </p:nvCxnSpPr>
        <p:spPr>
          <a:xfrm>
            <a:off x="3194462" y="3835731"/>
            <a:ext cx="641267"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0" name="Oval 9">
            <a:extLst>
              <a:ext uri="{FF2B5EF4-FFF2-40B4-BE49-F238E27FC236}">
                <a16:creationId xmlns:a16="http://schemas.microsoft.com/office/drawing/2014/main" id="{E35DEB72-0DF0-A920-F450-E224789039AD}"/>
              </a:ext>
            </a:extLst>
          </p:cNvPr>
          <p:cNvSpPr/>
          <p:nvPr/>
        </p:nvSpPr>
        <p:spPr>
          <a:xfrm>
            <a:off x="7977645" y="2541320"/>
            <a:ext cx="1993076" cy="1512125"/>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Risk Education</a:t>
            </a:r>
          </a:p>
        </p:txBody>
      </p:sp>
      <p:sp>
        <p:nvSpPr>
          <p:cNvPr id="11" name="Oval 10">
            <a:extLst>
              <a:ext uri="{FF2B5EF4-FFF2-40B4-BE49-F238E27FC236}">
                <a16:creationId xmlns:a16="http://schemas.microsoft.com/office/drawing/2014/main" id="{A4E35DAF-DA3B-EA28-6704-18A637EE0E7A}"/>
              </a:ext>
            </a:extLst>
          </p:cNvPr>
          <p:cNvSpPr/>
          <p:nvPr/>
        </p:nvSpPr>
        <p:spPr>
          <a:xfrm>
            <a:off x="7977645" y="4205207"/>
            <a:ext cx="1993076" cy="1512125"/>
          </a:xfrm>
          <a:prstGeom prst="ellipse">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t>Prevention Education</a:t>
            </a:r>
          </a:p>
        </p:txBody>
      </p:sp>
      <p:cxnSp>
        <p:nvCxnSpPr>
          <p:cNvPr id="12" name="Straight Arrow Connector 11">
            <a:extLst>
              <a:ext uri="{FF2B5EF4-FFF2-40B4-BE49-F238E27FC236}">
                <a16:creationId xmlns:a16="http://schemas.microsoft.com/office/drawing/2014/main" id="{C7503D4A-6B54-72F8-24DB-BECDFC2BDC90}"/>
              </a:ext>
            </a:extLst>
          </p:cNvPr>
          <p:cNvCxnSpPr>
            <a:cxnSpLocks/>
          </p:cNvCxnSpPr>
          <p:nvPr/>
        </p:nvCxnSpPr>
        <p:spPr>
          <a:xfrm flipV="1">
            <a:off x="7016040" y="3429000"/>
            <a:ext cx="738250" cy="1890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id="{EE9136CB-5B88-E5DE-3BEC-FAED7CDA0DF9}"/>
              </a:ext>
            </a:extLst>
          </p:cNvPr>
          <p:cNvCxnSpPr>
            <a:cxnSpLocks/>
          </p:cNvCxnSpPr>
          <p:nvPr/>
        </p:nvCxnSpPr>
        <p:spPr>
          <a:xfrm>
            <a:off x="7015050" y="4205207"/>
            <a:ext cx="739240" cy="20053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41672423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5128C-F5B7-22E1-A95F-6462C01BCEA6}"/>
              </a:ext>
            </a:extLst>
          </p:cNvPr>
          <p:cNvSpPr>
            <a:spLocks noGrp="1"/>
          </p:cNvSpPr>
          <p:nvPr>
            <p:ph type="title"/>
          </p:nvPr>
        </p:nvSpPr>
        <p:spPr/>
        <p:txBody>
          <a:bodyPr/>
          <a:lstStyle/>
          <a:p>
            <a:r>
              <a:rPr lang="en-US" dirty="0"/>
              <a:t>Challenges Remaining</a:t>
            </a:r>
          </a:p>
        </p:txBody>
      </p:sp>
      <p:sp>
        <p:nvSpPr>
          <p:cNvPr id="3" name="Content Placeholder 2">
            <a:extLst>
              <a:ext uri="{FF2B5EF4-FFF2-40B4-BE49-F238E27FC236}">
                <a16:creationId xmlns:a16="http://schemas.microsoft.com/office/drawing/2014/main" id="{4E3CDF4C-4B69-0E3D-A244-7827F0DF07B3}"/>
              </a:ext>
            </a:extLst>
          </p:cNvPr>
          <p:cNvSpPr>
            <a:spLocks noGrp="1"/>
          </p:cNvSpPr>
          <p:nvPr>
            <p:ph idx="1"/>
          </p:nvPr>
        </p:nvSpPr>
        <p:spPr/>
        <p:txBody>
          <a:bodyPr/>
          <a:lstStyle/>
          <a:p>
            <a:r>
              <a:rPr lang="en-US" dirty="0"/>
              <a:t>- Development of health guidance recommender (if patient can reduce X metric, it will reduce risk by Y percent). Output of top three metrics based on risk impact. </a:t>
            </a:r>
          </a:p>
          <a:p>
            <a:r>
              <a:rPr lang="en-US" dirty="0"/>
              <a:t>- Modeling for recommender</a:t>
            </a:r>
          </a:p>
          <a:p>
            <a:r>
              <a:rPr lang="en-US" dirty="0"/>
              <a:t>- Continue developing survival model(s) for risk analysis</a:t>
            </a:r>
          </a:p>
          <a:p>
            <a:r>
              <a:rPr lang="en-US" dirty="0"/>
              <a:t>- Any application UI/UX changes</a:t>
            </a:r>
          </a:p>
        </p:txBody>
      </p:sp>
    </p:spTree>
    <p:extLst>
      <p:ext uri="{BB962C8B-B14F-4D97-AF65-F5344CB8AC3E}">
        <p14:creationId xmlns:p14="http://schemas.microsoft.com/office/powerpoint/2010/main" val="291224911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11EB0B-A5E5-EC30-8C85-9904C5B50DB7}"/>
              </a:ext>
            </a:extLst>
          </p:cNvPr>
          <p:cNvSpPr>
            <a:spLocks noGrp="1"/>
          </p:cNvSpPr>
          <p:nvPr>
            <p:ph type="title"/>
          </p:nvPr>
        </p:nvSpPr>
        <p:spPr/>
        <p:txBody>
          <a:bodyPr/>
          <a:lstStyle/>
          <a:p>
            <a:r>
              <a:rPr lang="en-US" dirty="0"/>
              <a:t>References</a:t>
            </a:r>
          </a:p>
        </p:txBody>
      </p:sp>
      <p:sp>
        <p:nvSpPr>
          <p:cNvPr id="3" name="Content Placeholder 2">
            <a:extLst>
              <a:ext uri="{FF2B5EF4-FFF2-40B4-BE49-F238E27FC236}">
                <a16:creationId xmlns:a16="http://schemas.microsoft.com/office/drawing/2014/main" id="{71982738-A0AB-E20D-6CBC-EED4B40D3A60}"/>
              </a:ext>
            </a:extLst>
          </p:cNvPr>
          <p:cNvSpPr>
            <a:spLocks noGrp="1"/>
          </p:cNvSpPr>
          <p:nvPr>
            <p:ph idx="1"/>
          </p:nvPr>
        </p:nvSpPr>
        <p:spPr/>
        <p:txBody>
          <a:bodyPr/>
          <a:lstStyle/>
          <a:p>
            <a:r>
              <a:rPr lang="en-US" dirty="0"/>
              <a:t>American Heart Association. (2024, January 10). </a:t>
            </a:r>
            <a:r>
              <a:rPr lang="en-US" i="1" dirty="0"/>
              <a:t>What is cardiovascular disease?</a:t>
            </a:r>
            <a:r>
              <a:rPr lang="en-US" dirty="0"/>
              <a:t>. www.heart.org. https://www.heart.org/en/health-topics/consumer-healthcare/what-is-cardiovascular-disease </a:t>
            </a:r>
          </a:p>
          <a:p>
            <a:endParaRPr lang="en-US" dirty="0"/>
          </a:p>
          <a:p>
            <a:r>
              <a:rPr lang="en-US" dirty="0"/>
              <a:t>World Health Organization. (2025, July 21). </a:t>
            </a:r>
            <a:r>
              <a:rPr lang="en-US" i="1" dirty="0"/>
              <a:t>Cardiovascular diseases (</a:t>
            </a:r>
            <a:r>
              <a:rPr lang="en-US" i="1" dirty="0" err="1"/>
              <a:t>cvds</a:t>
            </a:r>
            <a:r>
              <a:rPr lang="en-US" i="1" dirty="0"/>
              <a:t>)</a:t>
            </a:r>
            <a:r>
              <a:rPr lang="en-US" dirty="0"/>
              <a:t>. World Health Organization. https://www.who.int/news-room/fact-sheets/detail/cardiovascular-diseases-(cvds) </a:t>
            </a:r>
          </a:p>
          <a:p>
            <a:endParaRPr lang="en-US" dirty="0"/>
          </a:p>
          <a:p>
            <a:endParaRPr lang="en-US" dirty="0"/>
          </a:p>
        </p:txBody>
      </p:sp>
    </p:spTree>
    <p:extLst>
      <p:ext uri="{BB962C8B-B14F-4D97-AF65-F5344CB8AC3E}">
        <p14:creationId xmlns:p14="http://schemas.microsoft.com/office/powerpoint/2010/main" val="1249136295"/>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1998</TotalTime>
  <Words>318</Words>
  <Application>Microsoft Office PowerPoint</Application>
  <PresentationFormat>Widescreen</PresentationFormat>
  <Paragraphs>24</Paragraphs>
  <Slides>5</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Calibri</vt:lpstr>
      <vt:lpstr>Calibri Light</vt:lpstr>
      <vt:lpstr>Retrospect</vt:lpstr>
      <vt:lpstr>Cardiovascular Disease (CVD) Risk and Recommender</vt:lpstr>
      <vt:lpstr>The Problem</vt:lpstr>
      <vt:lpstr>Proposed Solution</vt:lpstr>
      <vt:lpstr>Challenges Remaining</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Brandon Chung</dc:creator>
  <cp:lastModifiedBy>Brandon Chung</cp:lastModifiedBy>
  <cp:revision>2</cp:revision>
  <dcterms:created xsi:type="dcterms:W3CDTF">2026-04-11T14:52:15Z</dcterms:created>
  <dcterms:modified xsi:type="dcterms:W3CDTF">2026-04-13T00:10:23Z</dcterms:modified>
</cp:coreProperties>
</file>